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38.png"/><Relationship Id="rId5" Type="http://schemas.openxmlformats.org/officeDocument/2006/relationships/image" Target="../media/image35.png"/><Relationship Id="rId10" Type="http://schemas.openxmlformats.org/officeDocument/2006/relationships/image" Target="../media/image37.png"/><Relationship Id="rId4" Type="http://schemas.openxmlformats.org/officeDocument/2006/relationships/image" Target="../media/image34.png"/><Relationship Id="rId9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061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047" y="1700216"/>
            <a:ext cx="1357312" cy="295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4404" y="2185991"/>
            <a:ext cx="990600" cy="76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74707" y="3043241"/>
            <a:ext cx="7509844" cy="6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 dirty="0">
                <a:solidFill>
                  <a:srgbClr val="0F172A"/>
                </a:solidFill>
                <a:latin typeface="Poppins"/>
              </a:rPr>
              <a:t>Managing Files and Folders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9704" y="3808962"/>
            <a:ext cx="7620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64748B"/>
                </a:solidFill>
                <a:latin typeface="Inter"/>
              </a:rPr>
              <a:t>A systematic guide to understanding computer file systems, organizing digital data, and performing essential file operations.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769E423-2FA4-0ED8-630F-6751909945A8}"/>
              </a:ext>
            </a:extLst>
          </p:cNvPr>
          <p:cNvSpPr/>
          <p:nvPr/>
        </p:nvSpPr>
        <p:spPr>
          <a:xfrm>
            <a:off x="824042" y="313573"/>
            <a:ext cx="3033922" cy="2211593"/>
          </a:xfrm>
          <a:custGeom>
            <a:avLst/>
            <a:gdLst>
              <a:gd name="csX0" fmla="*/ 273 w 3033922"/>
              <a:gd name="csY0" fmla="*/ 779033 h 2211593"/>
              <a:gd name="csX1" fmla="*/ 1604460 w 3033922"/>
              <a:gd name="csY1" fmla="*/ 179851 h 2211593"/>
              <a:gd name="csX2" fmla="*/ 2988727 w 3033922"/>
              <a:gd name="csY2" fmla="*/ 779033 h 2211593"/>
              <a:gd name="csX3" fmla="*/ 1488713 w 3033922"/>
              <a:gd name="csY3" fmla="*/ 2211593 h 2211593"/>
              <a:gd name="csX4" fmla="*/ 273 w 3033922"/>
              <a:gd name="csY4" fmla="*/ 779033 h 22115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033922" h="2211593">
                <a:moveTo>
                  <a:pt x="273" y="779033"/>
                </a:moveTo>
                <a:cubicBezTo>
                  <a:pt x="19564" y="440409"/>
                  <a:pt x="1106384" y="179851"/>
                  <a:pt x="1604460" y="179851"/>
                </a:cubicBezTo>
                <a:cubicBezTo>
                  <a:pt x="2102536" y="179851"/>
                  <a:pt x="3278094" y="-498285"/>
                  <a:pt x="2988727" y="779033"/>
                </a:cubicBezTo>
                <a:cubicBezTo>
                  <a:pt x="2988727" y="1570214"/>
                  <a:pt x="1986789" y="2211593"/>
                  <a:pt x="1488713" y="2211593"/>
                </a:cubicBezTo>
                <a:cubicBezTo>
                  <a:pt x="990637" y="2211593"/>
                  <a:pt x="-19018" y="1117657"/>
                  <a:pt x="273" y="779033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Oval 6">
            <a:extLst>
              <a:ext uri="{FF2B5EF4-FFF2-40B4-BE49-F238E27FC236}">
                <a16:creationId xmlns:a16="http://schemas.microsoft.com/office/drawing/2014/main" id="{C7153F6C-72D6-7751-C9AB-A3DECE5973EA}"/>
              </a:ext>
            </a:extLst>
          </p:cNvPr>
          <p:cNvSpPr/>
          <p:nvPr/>
        </p:nvSpPr>
        <p:spPr>
          <a:xfrm rot="10451549">
            <a:off x="7775900" y="4498586"/>
            <a:ext cx="3033922" cy="2211593"/>
          </a:xfrm>
          <a:custGeom>
            <a:avLst/>
            <a:gdLst>
              <a:gd name="csX0" fmla="*/ 273 w 3033922"/>
              <a:gd name="csY0" fmla="*/ 779033 h 2211593"/>
              <a:gd name="csX1" fmla="*/ 1604460 w 3033922"/>
              <a:gd name="csY1" fmla="*/ 179851 h 2211593"/>
              <a:gd name="csX2" fmla="*/ 2988727 w 3033922"/>
              <a:gd name="csY2" fmla="*/ 779033 h 2211593"/>
              <a:gd name="csX3" fmla="*/ 1488713 w 3033922"/>
              <a:gd name="csY3" fmla="*/ 2211593 h 2211593"/>
              <a:gd name="csX4" fmla="*/ 273 w 3033922"/>
              <a:gd name="csY4" fmla="*/ 779033 h 22115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033922" h="2211593">
                <a:moveTo>
                  <a:pt x="273" y="779033"/>
                </a:moveTo>
                <a:cubicBezTo>
                  <a:pt x="19564" y="440409"/>
                  <a:pt x="1106384" y="179851"/>
                  <a:pt x="1604460" y="179851"/>
                </a:cubicBezTo>
                <a:cubicBezTo>
                  <a:pt x="2102536" y="179851"/>
                  <a:pt x="3278094" y="-498285"/>
                  <a:pt x="2988727" y="779033"/>
                </a:cubicBezTo>
                <a:cubicBezTo>
                  <a:pt x="2988727" y="1570214"/>
                  <a:pt x="1986789" y="2211593"/>
                  <a:pt x="1488713" y="2211593"/>
                </a:cubicBezTo>
                <a:cubicBezTo>
                  <a:pt x="990637" y="2211593"/>
                  <a:pt x="-19018" y="1117657"/>
                  <a:pt x="273" y="779033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2214C0-6DC6-DDF5-3878-69DA94319A1D}"/>
              </a:ext>
            </a:extLst>
          </p:cNvPr>
          <p:cNvSpPr txBox="1"/>
          <p:nvPr/>
        </p:nvSpPr>
        <p:spPr>
          <a:xfrm>
            <a:off x="2174707" y="5590320"/>
            <a:ext cx="57436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Poppins" panose="00000500000000000000" pitchFamily="2" charset="0"/>
                <a:cs typeface="Poppins" panose="00000500000000000000" pitchFamily="2" charset="0"/>
              </a:rPr>
              <a:t>Made by Mandar </a:t>
            </a:r>
            <a:r>
              <a:rPr lang="en-IN" sz="2800" b="1" dirty="0" err="1">
                <a:latin typeface="Poppins" panose="00000500000000000000" pitchFamily="2" charset="0"/>
                <a:cs typeface="Poppins" panose="00000500000000000000" pitchFamily="2" charset="0"/>
              </a:rPr>
              <a:t>Bodhare</a:t>
            </a:r>
            <a:endParaRPr lang="en-IN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2800" b="1" dirty="0">
                <a:latin typeface="Poppins" panose="00000500000000000000" pitchFamily="2" charset="0"/>
                <a:cs typeface="Poppins" panose="00000500000000000000" pitchFamily="2" charset="0"/>
              </a:rPr>
              <a:t>           Class 10</a:t>
            </a:r>
            <a:r>
              <a:rPr lang="en-IN" sz="2800" b="1" baseline="30000" dirty="0">
                <a:latin typeface="Poppins" panose="00000500000000000000" pitchFamily="2" charset="0"/>
                <a:cs typeface="Poppins" panose="00000500000000000000" pitchFamily="2" charset="0"/>
              </a:rPr>
              <a:t>th</a:t>
            </a:r>
            <a:r>
              <a:rPr lang="en-IN" sz="2800" b="1" dirty="0">
                <a:latin typeface="Poppins" panose="00000500000000000000" pitchFamily="2" charset="0"/>
                <a:cs typeface="Poppins" panose="00000500000000000000" pitchFamily="2" charset="0"/>
              </a:rPr>
              <a:t>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27101"/>
            <a:ext cx="5353050" cy="24895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527101"/>
            <a:ext cx="5353050" cy="24895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4875" y="3298626"/>
            <a:ext cx="4970621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1E293B"/>
                </a:solidFill>
                <a:latin typeface="Poppins SemiBold"/>
              </a:rPr>
              <a:t>The Wardrobe Analogy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727251"/>
            <a:ext cx="4733925" cy="100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Storing information on a computer is like organizing clothes in a wardrobe. Placing clothes systematically in separate drawers saves time and energy, whereas throwing everything into one drawer causes chaos and delay.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3298626"/>
            <a:ext cx="4970621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The Computer File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727251"/>
            <a:ext cx="4733925" cy="100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If files are saved randomly on a computer, finding them later wastes significant effort. The Operating System provides a </a:t>
            </a:r>
            <a:r>
              <a:rPr sz="1275" b="1" i="0" u="none">
                <a:solidFill>
                  <a:srgbClr val="475569"/>
                </a:solidFill>
                <a:latin typeface="Inter"/>
              </a:rPr>
              <a:t>File System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to logical organize and name data for effortless storage and retrieval.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" y="2841426"/>
            <a:ext cx="3810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2841426"/>
            <a:ext cx="3429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Why File Management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962150"/>
            <a:ext cx="535305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62150"/>
            <a:ext cx="562070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Hierarchical File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90775"/>
            <a:ext cx="535305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The File System is a layer of system software responsible for organizing and managing stored data. Most OS (Windows, macOS, Unix) use a tree-like hierarchy: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962150"/>
            <a:ext cx="5353050" cy="3619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1550" y="3295947"/>
            <a:ext cx="4953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Root Folder: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The topmost directory containing all other elements.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4000797"/>
            <a:ext cx="4953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Folders (Directories):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Organizational containers used to group related files.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4705647"/>
            <a:ext cx="4953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Sub-folders: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Folders nested inside other folders to create refined levels.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19760"/>
            <a:ext cx="238125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024610"/>
            <a:ext cx="2095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29460"/>
            <a:ext cx="209550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Understanding the File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62076"/>
            <a:ext cx="3530649" cy="241964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562076"/>
            <a:ext cx="3530649" cy="241964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562076"/>
            <a:ext cx="3530649" cy="241964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838301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524101"/>
            <a:ext cx="172427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1. Context 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952726"/>
            <a:ext cx="3054399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Right-click once on any blank area of the Desktop or inside File Explorer to open the shortcut context menu.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838301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8874" y="3524101"/>
            <a:ext cx="166427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2. Choose 'New'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3952726"/>
            <a:ext cx="3054399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Hover over </a:t>
            </a:r>
            <a:r>
              <a:rPr sz="1275" b="1" i="0" u="none">
                <a:solidFill>
                  <a:srgbClr val="475569"/>
                </a:solidFill>
                <a:latin typeface="Inter"/>
              </a:rPr>
              <a:t>New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and select </a:t>
            </a:r>
            <a:r>
              <a:rPr sz="1275" b="1" i="0" u="none">
                <a:solidFill>
                  <a:srgbClr val="475569"/>
                </a:solidFill>
                <a:latin typeface="Inter"/>
              </a:rPr>
              <a:t>Folder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or choose a file type (MS Word, Excel, Text Document, etc.).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838301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8124" y="3524101"/>
            <a:ext cx="209557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3. Name &amp; 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3952726"/>
            <a:ext cx="3054399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Type a descriptive name for your new item at the cursor location and press the </a:t>
            </a:r>
            <a:r>
              <a:rPr sz="1275" b="1" i="0" u="none">
                <a:solidFill>
                  <a:srgbClr val="475569"/>
                </a:solidFill>
                <a:latin typeface="Inter"/>
              </a:rPr>
              <a:t>Enter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key to save.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075" y="2981176"/>
            <a:ext cx="1714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1274" y="2981176"/>
            <a:ext cx="20955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28149" y="2981176"/>
            <a:ext cx="1143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Creating Files and Folders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52550" y="2619375"/>
            <a:ext cx="9886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Context Menu Method: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Right-click on the file/folder, select </a:t>
            </a:r>
            <a:r>
              <a:rPr sz="1350" b="1" i="0" u="none">
                <a:solidFill>
                  <a:srgbClr val="0F172A"/>
                </a:solidFill>
                <a:latin typeface="Inter"/>
              </a:rPr>
              <a:t>Rename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from the menu, type the new name, and press Enter.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50" y="3324225"/>
            <a:ext cx="98869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This PC Ribbon Method: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Open </a:t>
            </a:r>
            <a:r>
              <a:rPr sz="1350" b="0" i="1" u="none">
                <a:solidFill>
                  <a:srgbClr val="2563EB"/>
                </a:solidFill>
                <a:latin typeface="Inter"/>
              </a:rPr>
              <a:t>This PC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, select the item, and click the </a:t>
            </a:r>
            <a:r>
              <a:rPr sz="1350" b="1" i="0" u="none">
                <a:solidFill>
                  <a:srgbClr val="0F172A"/>
                </a:solidFill>
                <a:latin typeface="Inter"/>
              </a:rPr>
              <a:t>Rename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button located in the </a:t>
            </a:r>
            <a:r>
              <a:rPr sz="1350" b="0" i="1" u="none">
                <a:solidFill>
                  <a:srgbClr val="2563EB"/>
                </a:solidFill>
                <a:latin typeface="Inter"/>
              </a:rPr>
              <a:t>Organize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group under the Home tab.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2550" y="3771900"/>
            <a:ext cx="98869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Keyboard Shortcut: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Select any file or folder and press the F2 key to quickly edit its name.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2550" y="4219575"/>
            <a:ext cx="9886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Pro Tip - Batch Renaming: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Select multiple files at once, choose rename, and type a single name. Windows will automatically append sequential numbers, e.g., </a:t>
            </a:r>
            <a:r>
              <a:rPr sz="1350" b="0" i="1" u="none">
                <a:solidFill>
                  <a:srgbClr val="2563EB"/>
                </a:solidFill>
                <a:latin typeface="Inter"/>
              </a:rPr>
              <a:t>Project (1)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, </a:t>
            </a:r>
            <a:r>
              <a:rPr sz="1350" b="0" i="1" u="none">
                <a:solidFill>
                  <a:srgbClr val="2563EB"/>
                </a:solidFill>
                <a:latin typeface="Inter"/>
              </a:rPr>
              <a:t>Project (2)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643187"/>
            <a:ext cx="209550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3348037"/>
            <a:ext cx="2095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3795712"/>
            <a:ext cx="238125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4243387"/>
            <a:ext cx="16192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Renaming Files and Folders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84375"/>
            <a:ext cx="5353050" cy="277504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384375"/>
            <a:ext cx="5353050" cy="27750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4875" y="2670125"/>
            <a:ext cx="4970621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Quick Deletion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098750"/>
            <a:ext cx="4733925" cy="250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To remove unwanted items from your computer: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2670125"/>
            <a:ext cx="4970621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Two Deletion Options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098750"/>
            <a:ext cx="4733925" cy="250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When deleting an item, you can choose: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4925" y="3463974"/>
            <a:ext cx="43338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Select the file/folder and press the Delete key.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4925" y="3911649"/>
            <a:ext cx="43338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Right-click the item and choose </a:t>
            </a:r>
            <a:r>
              <a:rPr sz="1350" b="1" i="0" u="none">
                <a:solidFill>
                  <a:srgbClr val="0F172A"/>
                </a:solidFill>
                <a:latin typeface="Inter"/>
              </a:rPr>
              <a:t>Delete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4925" y="4359324"/>
            <a:ext cx="43338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Use </a:t>
            </a:r>
            <a:r>
              <a:rPr sz="1350" b="1" i="0" u="none">
                <a:solidFill>
                  <a:srgbClr val="0F172A"/>
                </a:solidFill>
                <a:latin typeface="Inter"/>
              </a:rPr>
              <a:t>This PC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→ Home Tab → </a:t>
            </a:r>
            <a:r>
              <a:rPr sz="1350" b="0" i="1" u="none">
                <a:solidFill>
                  <a:srgbClr val="2563EB"/>
                </a:solidFill>
                <a:latin typeface="Inter"/>
              </a:rPr>
              <a:t>Organize Group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→ </a:t>
            </a:r>
            <a:r>
              <a:rPr sz="1350" b="1" i="0" u="none">
                <a:solidFill>
                  <a:srgbClr val="0F172A"/>
                </a:solidFill>
                <a:latin typeface="Inter"/>
              </a:rPr>
              <a:t>Delete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875" y="3463974"/>
            <a:ext cx="43338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Recycle: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Moves the item to the Recycle Bin so it can be safely restored later if needed.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0875" y="4168824"/>
            <a:ext cx="43338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Permanently Delete: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Erases the file completely from the computer disk (Shift + Delete).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" y="3487787"/>
            <a:ext cx="180975" cy="2190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" y="3935462"/>
            <a:ext cx="161925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75" y="4383137"/>
            <a:ext cx="238125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0825" y="3487787"/>
            <a:ext cx="20955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0825" y="4192637"/>
            <a:ext cx="209550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Deleting Files and Folders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36614"/>
            <a:ext cx="3530649" cy="26705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36614"/>
            <a:ext cx="3530649" cy="26705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36614"/>
            <a:ext cx="3530649" cy="26705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712839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398639"/>
            <a:ext cx="213667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Restore Single 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827264"/>
            <a:ext cx="3054399" cy="100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Open Recycle Bin, select the item, and click </a:t>
            </a:r>
            <a:r>
              <a:rPr sz="1275" b="1" i="0" u="none">
                <a:solidFill>
                  <a:srgbClr val="475569"/>
                </a:solidFill>
                <a:latin typeface="Inter"/>
              </a:rPr>
              <a:t>Restore the selected items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under Recycle Bin Tools tab to return it to its original location.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712839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8874" y="3398639"/>
            <a:ext cx="185554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Restore All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3827264"/>
            <a:ext cx="3054399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Click </a:t>
            </a:r>
            <a:r>
              <a:rPr sz="1275" b="1" i="0" u="none">
                <a:solidFill>
                  <a:srgbClr val="475569"/>
                </a:solidFill>
                <a:latin typeface="Inter"/>
              </a:rPr>
              <a:t>Restore all items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on the top ribbon toolbar to instantly retrieve all deleted files back to their previous folder paths.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712839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8124" y="3398639"/>
            <a:ext cx="202556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Empty Recycle Bin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3827264"/>
            <a:ext cx="3054399" cy="100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Right-click the Recycle Bin icon on the desktop and click </a:t>
            </a:r>
            <a:r>
              <a:rPr sz="1275" b="1" i="0" u="none">
                <a:solidFill>
                  <a:srgbClr val="475569"/>
                </a:solidFill>
                <a:latin typeface="Inter"/>
              </a:rPr>
              <a:t>Empty Recycle Bin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to permanently remove all items and free up hard disk space.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2855714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1749" y="2855714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42424" y="2855714"/>
            <a:ext cx="28575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Recycle Bin Operations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52563"/>
            <a:ext cx="5353050" cy="223867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652563"/>
            <a:ext cx="5353050" cy="22386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4875" y="3424088"/>
            <a:ext cx="4970621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Moving a File / Folder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852713"/>
            <a:ext cx="4733925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Moving shifts the file from its original location (source) to a new location (destination). The file is completely removed from the original 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3424088"/>
            <a:ext cx="4970621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Copying a File / Folder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852713"/>
            <a:ext cx="4733925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Copying creates an exact duplicate copy of the selected file or folder in the destination folder, while keeping the original intact at the source.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" y="2966888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2966888"/>
            <a:ext cx="2667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Moving vs. Copying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52550" y="2714625"/>
            <a:ext cx="9886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Ribbon Toolbar Method: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Open </a:t>
            </a:r>
            <a:r>
              <a:rPr sz="1350" b="0" i="1" u="none">
                <a:solidFill>
                  <a:srgbClr val="2563EB"/>
                </a:solidFill>
                <a:latin typeface="Inter"/>
              </a:rPr>
              <a:t>This PC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, choose your file, and click </a:t>
            </a:r>
            <a:r>
              <a:rPr sz="1350" b="1" i="0" u="none">
                <a:solidFill>
                  <a:srgbClr val="0F172A"/>
                </a:solidFill>
                <a:latin typeface="Inter"/>
              </a:rPr>
              <a:t>Move to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or </a:t>
            </a:r>
            <a:r>
              <a:rPr sz="1350" b="1" i="0" u="none">
                <a:solidFill>
                  <a:srgbClr val="0F172A"/>
                </a:solidFill>
                <a:latin typeface="Inter"/>
              </a:rPr>
              <a:t>Copy to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from the </a:t>
            </a:r>
            <a:r>
              <a:rPr sz="1350" b="0" i="1" u="none">
                <a:solidFill>
                  <a:srgbClr val="2563EB"/>
                </a:solidFill>
                <a:latin typeface="Inter"/>
              </a:rPr>
              <a:t>Organize group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on the Home tab. Choose the destination path.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50" y="3419475"/>
            <a:ext cx="9886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Context Menu Method: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Right-click the file and select </a:t>
            </a:r>
            <a:r>
              <a:rPr sz="1350" b="1" i="0" u="none">
                <a:solidFill>
                  <a:srgbClr val="0F172A"/>
                </a:solidFill>
                <a:latin typeface="Inter"/>
              </a:rPr>
              <a:t>Cut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(to move) or </a:t>
            </a:r>
            <a:r>
              <a:rPr sz="1350" b="1" i="0" u="none">
                <a:solidFill>
                  <a:srgbClr val="0F172A"/>
                </a:solidFill>
                <a:latin typeface="Inter"/>
              </a:rPr>
              <a:t>Copy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(to duplicate). Navigate to the target folder, right-click blank space, and choose </a:t>
            </a:r>
            <a:r>
              <a:rPr sz="1350" b="1" i="0" u="none">
                <a:solidFill>
                  <a:srgbClr val="0F172A"/>
                </a:solidFill>
                <a:latin typeface="Inter"/>
              </a:rPr>
              <a:t>Paste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2550" y="4124325"/>
            <a:ext cx="9886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Keyboard Shortcut Method: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Select file → Press Ctrl + X (Move) or Ctrl + C (Copy) → Go to target location → Press Ctrl + V (Paste).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738437"/>
            <a:ext cx="238125" cy="2190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3443287"/>
            <a:ext cx="161925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4148137"/>
            <a:ext cx="238125" cy="219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Methods to Move and Copy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103387"/>
            <a:ext cx="11049000" cy="33368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103387"/>
          <a:ext cx="11039474" cy="3336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5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22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145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Action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Shortcut / 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Result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14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Rename Item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F2 or Right-Click → Rename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Edits the current file/folder label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14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Move Item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Ctrl + X then Ctrl + 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Relocates item (Cut &amp; Paste)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14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Copy Item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Ctrl + C then Ctrl + 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Creates a duplicate copy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14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Temporary Delete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Delete key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Sends item to Recycle Bin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1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Permanent Delete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Shift + Delete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Bypasses Recycle Bin completely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2659112"/>
            <a:ext cx="2621756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198018" y="2659112"/>
            <a:ext cx="4125515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23534" y="2659112"/>
            <a:ext cx="429220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6262" y="3223914"/>
            <a:ext cx="26217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98018" y="3223914"/>
            <a:ext cx="41255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23534" y="3223914"/>
            <a:ext cx="42922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262" y="3774430"/>
            <a:ext cx="26217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98018" y="3774430"/>
            <a:ext cx="41255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23534" y="3774430"/>
            <a:ext cx="42922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262" y="4324945"/>
            <a:ext cx="26217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98018" y="4324945"/>
            <a:ext cx="41255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23534" y="4324945"/>
            <a:ext cx="42922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262" y="4875460"/>
            <a:ext cx="26217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98018" y="4875460"/>
            <a:ext cx="41255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23534" y="4875460"/>
            <a:ext cx="42922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Essential Shortcuts 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43200"/>
            <a:ext cx="5353050" cy="2057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3133725"/>
            <a:ext cx="4572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sz="7500" b="1" i="0" u="none">
                <a:solidFill>
                  <a:srgbClr val="2563EB"/>
                </a:solidFill>
                <a:latin typeface="Poppins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4181475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1E293B"/>
                </a:solidFill>
                <a:latin typeface="Inter SemiBold"/>
              </a:rPr>
              <a:t>Organized Digital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7450" y="2449413"/>
            <a:ext cx="562070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Golden Rules for File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7450" y="2878038"/>
            <a:ext cx="535305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Following structured file management ensures smooth workflow and reliable storage: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3494186"/>
            <a:ext cx="4953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Always use clear, meaningful folder names (e.g., </a:t>
            </a:r>
            <a:r>
              <a:rPr sz="1350" b="0" i="1" u="none">
                <a:solidFill>
                  <a:srgbClr val="2563EB"/>
                </a:solidFill>
                <a:latin typeface="Inter"/>
              </a:rPr>
              <a:t>Math_Homework_2026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0" y="3941861"/>
            <a:ext cx="4953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Group related files inside sub-folders to maintain logical hierarchy.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0" y="4646711"/>
            <a:ext cx="4953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Periodically empty your Recycle Bin to clear system storage.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3517999"/>
            <a:ext cx="2095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3965674"/>
            <a:ext cx="209550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4670524"/>
            <a:ext cx="209550" cy="219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Key Best Practices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133" y="476250"/>
            <a:ext cx="1773584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962025"/>
            <a:ext cx="11601450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F172A"/>
                </a:solidFill>
                <a:latin typeface="Poppins"/>
              </a:rPr>
              <a:t>Questions &amp;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019300"/>
            <a:ext cx="11049000" cy="3247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7"/>
              </a:lnSpc>
            </a:pPr>
            <a:r>
              <a:rPr sz="1650" b="0" i="0" u="none">
                <a:solidFill>
                  <a:srgbClr val="64748B"/>
                </a:solidFill>
                <a:latin typeface="Inter"/>
              </a:rPr>
              <a:t>Thank you for participating! You now master the fundamentals of managing files and folders effectively.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725042"/>
            <a:ext cx="1104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D9488"/>
                </a:solidFill>
                <a:latin typeface="Inter SemiBold"/>
              </a:rPr>
              <a:t>Unit 3: Information and Communication Technology Skills-II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900" y="3533775"/>
            <a:ext cx="2447925" cy="5018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05275" y="3534072"/>
            <a:ext cx="5076825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https://www.linuxtrainingacademy.com/wp-content/uploads/2014/03/linux-folders.jpg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05275" y="3773537"/>
            <a:ext cx="5076825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www.linuxtrainingacademy.com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920</Words>
  <Application>Microsoft Office PowerPoint</Application>
  <PresentationFormat>Widescreen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Inter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mandarbodhare@gmail.com</cp:lastModifiedBy>
  <cp:revision>2</cp:revision>
  <dcterms:created xsi:type="dcterms:W3CDTF">2013-01-27T09:14:16Z</dcterms:created>
  <dcterms:modified xsi:type="dcterms:W3CDTF">2026-09-14T16:51:21Z</dcterms:modified>
  <cp:category/>
</cp:coreProperties>
</file>